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A1F05-6C06-CC6A-C0E4-6266FD8FE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FF4DB-5829-DA65-A734-C094DDECE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DB6B9-FFE2-A39C-96D8-EACB32A0E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4268-ADC7-4F38-98FF-F63962BF6841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614D9-196F-232F-1D85-1FA833A59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DB8F6-62AA-38F7-ED57-F13FA966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AFAA-5EDB-4CF4-A700-448AE959B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414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34427-871F-BA67-2587-4BA505D9E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C036C-E238-FEBF-13A9-9053DC89A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BDBCB-E0CD-2E12-FC99-11C08461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4268-ADC7-4F38-98FF-F63962BF6841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BD54E-16CF-FE37-1BF2-C699A16FF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E6763-3FAF-4AC2-1821-DEC575AF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AFAA-5EDB-4CF4-A700-448AE959B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36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ADCC-4E34-D171-D1A7-4B60BA113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88FBF-78DD-3E91-B0B0-5DC93407A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1D15-9739-A8CB-8B08-E02FCCE67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4268-ADC7-4F38-98FF-F63962BF6841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1A338-247B-CD95-D7CF-73708E44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81F96-CA5B-F96A-5C67-16F7206D6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AFAA-5EDB-4CF4-A700-448AE959B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950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7DC3-7C6C-AB27-7AB1-4A3759CF1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CD983-3297-BCCC-9BBF-3308CB858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61D2D-D7BC-F78D-8375-F59606D23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64548-497B-1908-9A22-4156302F0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4268-ADC7-4F38-98FF-F63962BF6841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7D267-7153-8897-F075-965A42897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F38C3-03BC-0C21-ADAF-7439B496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AFAA-5EDB-4CF4-A700-448AE959B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84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A9E0-E9DE-9AED-6BBF-2A193A4C9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E667E-2AEF-6C26-E23D-556B6BBAF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7990C-BB09-CFEF-E595-5C5E808E7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9F7E6F-783B-0B6E-0FE5-4395B39C2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921134-91BE-D309-D718-664B3CBE0E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74294-22A5-B053-A464-B81E266E2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4268-ADC7-4F38-98FF-F63962BF6841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8C148C-9D39-9ACF-FFAA-732E32066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5EB6F6-C1EE-67B8-B173-334F67A7A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AFAA-5EDB-4CF4-A700-448AE959B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589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E93C-EDFE-851F-5376-D941ABE9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EDA91B-1794-05AE-27B5-5AC9BBB52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4268-ADC7-4F38-98FF-F63962BF6841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870F75-2774-5837-8EAC-D19C56DFF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84C0D-DCBB-B16F-D8E1-7CF5B68E7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AFAA-5EDB-4CF4-A700-448AE959B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278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B7D36-7BF7-771B-D765-66E2DD3DB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4268-ADC7-4F38-98FF-F63962BF6841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C36307-33DC-0218-6E1B-D82FDE075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7E931-9EA7-B6A5-19A3-1A5F1251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AFAA-5EDB-4CF4-A700-448AE959B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18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FDFCE-ED48-5B12-3A9D-312EB76BB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F2363-A374-7B00-C333-58B4E5BF7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F26EA-A05B-5DFB-F9B7-77F08A5C4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1A05C-E3F8-7319-1C4C-D7C57A99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4268-ADC7-4F38-98FF-F63962BF6841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A071F-2F76-A749-659C-8B1E5A40D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9BDA3-CA97-5D52-FD0C-2AC4B306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AFAA-5EDB-4CF4-A700-448AE959B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89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EBA7-EE2A-914E-D606-87EFDE278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CDF767-C994-EE08-E7B7-CFAE01E3C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F1BDE-4D03-5BD5-668F-CD4CF27A4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FACB1-8395-396B-26E0-386151603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4268-ADC7-4F38-98FF-F63962BF6841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48DB1-7B6D-E700-F7CF-877B883F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89107-A31B-3BC6-865E-8F9F21CB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AFAA-5EDB-4CF4-A700-448AE959B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125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BACC-336F-5103-AEC6-CCF3F3CEF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965E3-F7E9-598E-F3AB-DB21B1DF6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013AA-D8F1-665E-B666-4464D28C7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4268-ADC7-4F38-98FF-F63962BF6841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3CAFD-94A0-F334-F455-65AAE4CDF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EDFBB-F8E6-F320-7987-369DF127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AFAA-5EDB-4CF4-A700-448AE959B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994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2922CB-3C4F-B3E7-13C4-134CF6316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E01F2-2CA7-8EAA-2163-C00122881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4BB37-1BF2-59FC-B40F-47F47A186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4268-ADC7-4F38-98FF-F63962BF6841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918B6-6FA1-92CB-62B6-2D35BFAB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40E97-89C4-62B2-F7C5-87932A2F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AFAA-5EDB-4CF4-A700-448AE959B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627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5C70B5-C72B-AEF8-1738-9A09294AC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33C65-3F65-8D6F-8A49-6415C77A4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DCCD2-3F89-169B-8D3E-E3BD4112D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64268-ADC7-4F38-98FF-F63962BF6841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B6D53-5C73-32AF-50F8-FF58B76C7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689FF-921A-0CD1-9798-FC9609C70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6AFAA-5EDB-4CF4-A700-448AE959B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77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4E04DD-C574-6FEA-67C3-61E1A0C4BD7B}"/>
              </a:ext>
            </a:extLst>
          </p:cNvPr>
          <p:cNvSpPr/>
          <p:nvPr/>
        </p:nvSpPr>
        <p:spPr>
          <a:xfrm>
            <a:off x="0" y="0"/>
            <a:ext cx="9144000" cy="7366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B6977-56B1-B959-464E-4CC9D46D9C84}"/>
              </a:ext>
            </a:extLst>
          </p:cNvPr>
          <p:cNvSpPr txBox="1"/>
          <p:nvPr/>
        </p:nvSpPr>
        <p:spPr>
          <a:xfrm>
            <a:off x="698500" y="1333500"/>
            <a:ext cx="7747000" cy="12464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500" b="1">
                <a:solidFill>
                  <a:srgbClr val="1B3E7A"/>
                </a:solidFill>
                <a:latin typeface="Times New Roman" panose="02020603050405020304" pitchFamily="18" charset="0"/>
              </a:rPr>
              <a:t>A Hybrid Multi-Stage Plagiarism Detection Framework Combining Lexical and Semantic Similarity</a:t>
            </a:r>
            <a:endParaRPr lang="en-IN" sz="2500" b="1">
              <a:solidFill>
                <a:srgbClr val="1B3E7A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CAEFA-1172-BBC3-FB3E-37D8991FAB8B}"/>
              </a:ext>
            </a:extLst>
          </p:cNvPr>
          <p:cNvSpPr/>
          <p:nvPr/>
        </p:nvSpPr>
        <p:spPr>
          <a:xfrm>
            <a:off x="1524000" y="3492500"/>
            <a:ext cx="6096000" cy="3302000"/>
          </a:xfrm>
          <a:prstGeom prst="rect">
            <a:avLst/>
          </a:prstGeom>
          <a:solidFill>
            <a:srgbClr val="E8F0FA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rgbClr val="1F1F1F"/>
                </a:solidFill>
                <a:latin typeface="Times New Roman" panose="02020603050405020304" pitchFamily="18" charset="0"/>
              </a:rPr>
              <a:t>Submitted in partial fulfillment for the award of the degree of Bachelor of Engineering</a:t>
            </a:r>
          </a:p>
          <a:p>
            <a:pPr algn="ctr"/>
            <a:r>
              <a:rPr lang="en-US" sz="1800">
                <a:solidFill>
                  <a:srgbClr val="1F1F1F"/>
                </a:solidFill>
                <a:latin typeface="Times New Roman" panose="02020603050405020304" pitchFamily="18" charset="0"/>
              </a:rPr>
              <a:t>Computer Science and Engineering</a:t>
            </a:r>
          </a:p>
          <a:p>
            <a:pPr algn="ctr"/>
            <a:r>
              <a:rPr lang="en-US" sz="1800">
                <a:solidFill>
                  <a:srgbClr val="1F1F1F"/>
                </a:solidFill>
                <a:latin typeface="Times New Roman" panose="02020603050405020304" pitchFamily="18" charset="0"/>
              </a:rPr>
              <a:t>Submitted by: Gurkirat Singh Bhangoo, Sparsh Tyagi, Ashmit Saini, Litesh Goyal</a:t>
            </a:r>
          </a:p>
          <a:p>
            <a:pPr algn="ctr"/>
            <a:r>
              <a:rPr lang="en-US" sz="1800">
                <a:solidFill>
                  <a:srgbClr val="1F1F1F"/>
                </a:solidFill>
                <a:latin typeface="Times New Roman" panose="02020603050405020304" pitchFamily="18" charset="0"/>
              </a:rPr>
              <a:t>Under the Supervision of: Ms. Ankita Thakur</a:t>
            </a:r>
          </a:p>
          <a:p>
            <a:pPr algn="ctr"/>
            <a:r>
              <a:rPr lang="en-US" sz="1800">
                <a:solidFill>
                  <a:srgbClr val="1F1F1F"/>
                </a:solidFill>
                <a:latin typeface="Times New Roman" panose="02020603050405020304" pitchFamily="18" charset="0"/>
              </a:rPr>
              <a:t>Department of AIT-CSE, Chandigarh University</a:t>
            </a:r>
            <a:endParaRPr lang="en-IN" sz="1800">
              <a:solidFill>
                <a:srgbClr val="1F1F1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15A18-A0EB-A70A-1E3D-3D2D13CAA6B5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6942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73429D-F914-726C-DE18-AE1D1B6D43FB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9A523-5B82-DF71-4221-B91D34DA5D14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Outline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13A832-DB8F-FBA3-569C-2B05223EDE00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FFFFFF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Introduction to Project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Problem Formulation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Objectives of the Work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Methodology Used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Results and Outputs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Conclusion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Future Scope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References</a:t>
            </a:r>
            <a:endParaRPr lang="en-IN" sz="2100">
              <a:solidFill>
                <a:srgbClr val="1F1F1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7FECC-AF0D-6B50-63AD-150F44008FFD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44365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53880A-82B1-716D-32BF-E64F5B04B791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EF319B-F07F-60FC-551A-0F6ADF20B1A0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Introduction to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54EDF8-D6E7-675E-52C0-4B362F644C79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E8F0FA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Plagiarism detection is important in academic and digital environments.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Traditional systems work well for exact copying but struggle with paraphrased plagiarism.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Modern rewriting tools can preserve meaning while changing surface wording.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The project combines lexical and semantic NLP techniques.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864FF-01EE-63AD-5286-3B551FDCD01C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31469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43905A-2677-06EF-6614-5145C5A03F9C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38A7A5-5D73-DB93-58E2-0AA0D7D16FC4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Project Idea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178300-2E4C-C81E-A785-56B9A0D6BDA4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FFFFFF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Exact matching detects directly copied sentences.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TF-IDF captures lexical similarity through important word overlap.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SBERT captures semantic similarity even when wording changes.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The full system was built in Python and tested on a PAN dataset subset.</a:t>
            </a:r>
            <a:endParaRPr lang="en-IN" sz="2100">
              <a:solidFill>
                <a:srgbClr val="1F1F1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1777A-5106-6CA9-B256-2F9DC647DF88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47247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09F99A-06D2-4009-3309-68ACCD115854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011565-1F4A-C634-915D-7A5E97F54DEC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Project Evolution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1BF37E-C090-200B-CD70-59A71C4C3F9A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E8F0FA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Initial version: high recall but weak precision.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Improved version: safer document-level aggregation.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Research-ready version: PAN metadata-based pairing and threshold tuning.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Reviewer-ready version: learned classifier, ablation study, and confidence intervals.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Final version: synchronized code, paper, README, report, and presentation.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A1035-97DF-C869-67C0-CD8160203D33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1055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8EAD7A-4FD2-150F-97E9-4DFF4DE648A0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C576E5-98D2-0D49-4043-04FC6D56FF3D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Problem Formulation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7C13-28F6-8E11-3B6C-51516D8FAC7E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FFFFFF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TF-IDF is precise for copied text but weak for paraphrasing.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SBERT understands meaning but can produce false positives for topically similar documents.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The early hybrid model depended too much on one strong sentence match.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Main problem: improve precision without losing recall.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Research requirement: make the evaluation transparent and reproducible.</a:t>
            </a:r>
            <a:endParaRPr lang="en-IN" sz="2100">
              <a:solidFill>
                <a:srgbClr val="1F1F1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317D8-2531-037F-EC4E-7027821C5D48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07059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00DD8-AF98-1C79-E210-D4E6E360382F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C64C7-00DD-FB68-6554-47D016A44EC2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C9C296-F3EE-06B3-6369-A5FF488D70F6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E8F0FA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Build a full plagiarism detection pipeline using exact, lexical, and semantic similarity.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Detect copied as well as paraphrased plagiarism.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Improve precision while preserving high recall.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Use fair evaluation with threshold tuning and reproducible train-test split.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Prepare the project for publication, placement, and interview discussion.</a:t>
            </a:r>
            <a:endParaRPr lang="en-IN" sz="2100">
              <a:solidFill>
                <a:srgbClr val="1F1F1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37947-AD80-A7EC-6ADB-7D069654CA19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4268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F2A2E8-FA0D-6E7A-5DDB-6245F4D6085E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AA8C9F-3AF5-1739-5810-F5192D9352B9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Methodology Used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8B1D94-F152-66AE-7E8C-27839C64E1F1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FFFFFF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Input documents are normalized and split into sentences.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Exact sentence matches are checked first.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Document-level TF-IDF similarity is computed.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Document-level SBERT similarity is computed.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Sentence-level semantic matching is used for local evidence.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E23E8-3BDB-04AA-3D1A-4D80EFE40772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82551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3809BE-BE0A-9F35-A6D1-0F92DD6C0DD4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C8012-0FDC-3A5A-35BB-656B0B385507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Hybrid Scoring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40005F-10BB-F4C2-1691-0CC566ECC4A6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E8F0FA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Top-K matching keeps the best candidate sentence pairs.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Weak sentence pairs are removed through lexical-semantic filtering.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Local sentence evidence is combined with global TF-IDF and global SBERT.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A tuned threshold converts the final score into plagiarized or non-plagiarized.</a:t>
            </a:r>
          </a:p>
          <a:p>
            <a:pPr algn="ctr">
              <a:spcAft>
                <a:spcPts val="800"/>
              </a:spcAft>
            </a:pPr>
            <a:r>
              <a:rPr lang="en-US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Separate thresholds are tuned for TF-IDF, SBERT, Hybrid, and Learned Classifier.</a:t>
            </a:r>
            <a:endParaRPr lang="en-IN" sz="2100">
              <a:solidFill>
                <a:srgbClr val="1F1F1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F6B78A-13F6-5EB4-DD46-55032D27E661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69621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915FBA-5E2C-C1B6-0FBD-F3368340BA23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680CC-87FA-135C-839D-92D95F56AB41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Dataset and Evaluation Protocol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B0AE2A-21FD-A593-764D-91B8FA547441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FFFFFF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Dataset source: PAN plagiarism dataset subset.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Total document pairs: 162.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Training pairs: 113.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Test pairs: 49.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Test positives: 21 and test negatives: 28.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Bootstrap samples: 500.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71B506-5A2F-4176-304C-BCCDBB9FC11F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54770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FED35C-25D4-1837-AE8C-940C0ADC544B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2E4625-3F19-669B-1806-52EDA1923F3D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Initial vs Final Performance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AB1E11-46CB-067F-CBEB-2C13788A0AEF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E8F0FA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Initial Hybrid: Precision 0.55, Recall 0.96, F1 0.69, Accuracy 0.58.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Final Hybrid: Precision 0.9091, Recall 0.9524, F1 0.9302, Accuracy 0.9388.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Main improvement: much higher precision while keeping recall high.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Reason: stronger aggregation, filtering, and threshold calibration.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79FF99-3EA7-9DD7-2858-B2AD73992F40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96084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2DCA04-F9E8-DC46-F6CA-0CF7720F7481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3332E-63F0-93E4-91F0-9E0EA4540F7F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Final Model 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8A279-CF87-4C13-70DB-C986A0C06E52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FFFFFF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TF-IDF: Precision 0.6897, Recall 0.9524, F1 0.8000, Accuracy 0.7959.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SBERT: Precision 0.7619, Recall 0.7619, F1 0.7619, Accuracy 0.7959.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Hybrid: Precision 0.9091, Recall 0.9524, F1 0.9302, Accuracy 0.9388.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Learned Classifier: Precision 0.9048, Recall 0.9048, F1 0.9048, Accuracy 0.9184.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Hybrid model gave the best overall performance.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F01D53-E0DA-99D2-86DB-3574511B7F1F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948527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962AFE-9CDD-24A9-B6D4-FCAFE7325ED1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C64386-3C73-5947-39AB-35E735F6CF2F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Ablation Study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693E40-5E44-F9E7-C049-AED4A1289A66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E8F0FA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Full Hybrid F1: 0.9302.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Minus Local Signal F1: 0.9302.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Minus Global TF-IDF F1: 0.8182.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Minus Global SBERT F1: 0.8235.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Local Only F1: 0.6000.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Insight: global lexical and semantic signals contributed most on this split.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1A1B37-3187-A6E6-1233-282F010BD46E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18664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BE062F-C282-8220-80CD-D4A1CD4F2D90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C0C663-1EB3-AA1E-5A55-C36FCA9820B2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Confidence and Error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3062C-DECC-AF73-5ED5-4CE097D0C401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FFFFFF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Hybrid F1 bootstrap confidence interval: 0.8333 to 1.0000.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The test set contains only 49 pairs, so results are promising but not definitive.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Hybrid confusion matrix: TP 20, FP 2, FN 1, TN 26.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The final system greatly reduced false positives compared with the early prototype.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F4EED-D340-89AB-F22F-0191C8D1E7EC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48993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1BB632-C660-79F8-FED9-72B6AAFB867F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4ED16B-6689-1CD6-9C4E-4252442A361B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Major Updates Completed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4D58A7-4076-BF4A-90B0-23589B9A1C86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E8F0FA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PAN loader updated to use metadata-based positive pairs.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Unsafe max-score document aggregation was replaced.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Hybrid score now combines local and global evidence.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Experiment runner now uses fixed seed and threshold tuning.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Learning-based classifier, ablation study, and confidence intervals were added.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Paper, README, graphs, final report, and PPT were aligned.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53986F-7408-21FC-822B-AEC09BB8C7F1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028058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37BB0A-3961-2D67-FEEC-2215EA1813FB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D9B346-92A3-3E18-429F-6BF22C196B53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8DB977-B8E1-2358-379D-D88343B782F0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FFFFFF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A complete hybrid plagiarism detection system was successfully developed.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The final model combines exact matching, TF-IDF, SBERT, top-K matching, filtering, and ensemble aggregation.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The model improved from prototype-level precision to a strong final result.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Final Hybrid: Precision 0.9091, Recall 0.9524, F1 0.9302, Accuracy 0.9388.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The project is stronger for publication, viva, placement, and interview explanation.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A70E4-F6CE-CC2B-ECA8-E8512B21C5C0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98479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2E9D90-58C3-6F06-72A3-8B861615F50D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315F99-00BD-AF05-B35C-BFAAE8B87256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6BB8BF-4071-F56B-EBE8-22343FFE4A37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E8F0FA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Evaluate on larger PAN subsets or the full benchmark protocol.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Use harder negatives from realistic retrieval pipelines.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Extend the system to multilingual plagiarism detection.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Add explainable sentence-match outputs.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Explore stronger trainable models over hybrid features.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Deploy the project as a Flask API or web demo.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89886-69D1-E9B7-E6E9-ED5354EBD7F0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414612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B5EA20-5F64-8EC3-40D4-36FB7BEC2BBA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B3E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3A559-F3E1-9F09-DA31-9777E5863FFB}"/>
              </a:ext>
            </a:extLst>
          </p:cNvPr>
          <p:cNvSpPr txBox="1"/>
          <p:nvPr/>
        </p:nvSpPr>
        <p:spPr>
          <a:xfrm>
            <a:off x="355600" y="101600"/>
            <a:ext cx="7937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60043A-8A07-0876-418C-5B48E3589D9A}"/>
              </a:ext>
            </a:extLst>
          </p:cNvPr>
          <p:cNvSpPr/>
          <p:nvPr/>
        </p:nvSpPr>
        <p:spPr>
          <a:xfrm>
            <a:off x="762000" y="1206500"/>
            <a:ext cx="7620000" cy="3746500"/>
          </a:xfrm>
          <a:prstGeom prst="rect">
            <a:avLst/>
          </a:prstGeom>
          <a:solidFill>
            <a:srgbClr val="FFFFFF"/>
          </a:solidFill>
          <a:ln>
            <a:solidFill>
              <a:srgbClr val="1B3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Potthast et al. - Evaluation framework for plagiarism detection.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Barron-Cedeno et al. - Plagiarism and paraphrasing.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Reimers and Gurevych - Sentence-BERT.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Devlin et al. - BERT.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Arabi and Akbari - Hybrid weighted similarity.</a:t>
            </a:r>
          </a:p>
          <a:p>
            <a:pPr algn="ctr">
              <a:spcAft>
                <a:spcPts val="800"/>
              </a:spcAft>
            </a:pPr>
            <a:r>
              <a:rPr lang="en-IN" sz="2100">
                <a:solidFill>
                  <a:srgbClr val="1F1F1F"/>
                </a:solidFill>
                <a:latin typeface="Times New Roman" panose="02020603050405020304" pitchFamily="18" charset="0"/>
              </a:rPr>
              <a:t>â€¢ PAN 2025 overview and recent comparative plagiarism detection studies.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F8D8E-F2DC-BA19-8ED3-F600970501AB}"/>
              </a:ext>
            </a:extLst>
          </p:cNvPr>
          <p:cNvSpPr txBox="1"/>
          <p:nvPr/>
        </p:nvSpPr>
        <p:spPr>
          <a:xfrm>
            <a:off x="8572500" y="5359400"/>
            <a:ext cx="44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B3E7A"/>
                </a:solidFill>
                <a:latin typeface="Times New Roman" panose="02020603050405020304" pitchFamily="18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11641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1237</Words>
  <Application>Microsoft Office PowerPoint</Application>
  <PresentationFormat>On-screen Show (16:10)</PresentationFormat>
  <Paragraphs>130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gurkirat singh</dc:creator>
  <cp:lastModifiedBy>gurkirat singh</cp:lastModifiedBy>
  <cp:revision>1</cp:revision>
  <dcterms:created xsi:type="dcterms:W3CDTF">2026-04-29T11:54:15Z</dcterms:created>
  <dcterms:modified xsi:type="dcterms:W3CDTF">2026-04-29T11:54:15Z</dcterms:modified>
</cp:coreProperties>
</file>